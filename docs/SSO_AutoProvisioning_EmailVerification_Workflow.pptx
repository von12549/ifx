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3200400"/>
          </a:xfrm>
          <a:prstGeom prst="roundRect">
            <a:avLst/>
          </a:prstGeom>
          <a:solidFill>
            <a:srgbClr val="214F7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SSO Login  |  Auto-Provisioning  |  Email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86C1"/>
                </a:solidFill>
              </a:defRPr>
            </a:pPr>
            <a:r>
              <a:t>Complete Workflow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AuthSamples  |  ASP.NET Core 8  |  OAuth 2.0 + PKCE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029200"/>
            <a:ext cx="2560320" cy="109728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5DBDB"/>
                </a:solidFill>
              </a:defRPr>
            </a:pPr>
            <a:r>
              <a:t>SSO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5029200"/>
            <a:ext cx="2560320" cy="109728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5DBDB"/>
                </a:solidFill>
              </a:defRPr>
            </a:pPr>
            <a:r>
              <a:t>Auto-Provisioning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5029200"/>
            <a:ext cx="2560320" cy="109728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5DBDB"/>
                </a:solidFill>
              </a:defRPr>
            </a:pPr>
            <a:r>
              <a:t>Email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The Big Picture — End-to-End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What happens when a new user signs in via SSO for the first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474720" cy="411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</a:defRPr>
            </a:pPr>
            <a:r>
              <a:t>SSO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User clicks "Sign In with SSO"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Backend generates PKCE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credentials &amp; state parameter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Redirect to IdP login page</a:t>
            </a:r>
          </a:p>
          <a:p>
            <a:pPr>
              <a:spcAft>
                <a:spcPts val="400"/>
              </a:spcAft>
              <a:defRPr sz="1200" b="0">
                <a:solidFill>
                  <a:srgbClr val="7F8C8D"/>
                </a:solidFill>
              </a:defRPr>
            </a:pPr>
            <a:r>
              <a:t>(Cognito Hosted UI)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User authenticates at IdP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Callback: exchange code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for access + refresh tokens</a:t>
            </a:r>
          </a:p>
        </p:txBody>
      </p:sp>
      <p:sp>
        <p:nvSpPr>
          <p:cNvPr id="8" name="Chevron 7"/>
          <p:cNvSpPr/>
          <p:nvPr/>
        </p:nvSpPr>
        <p:spPr>
          <a:xfrm>
            <a:off x="3886200" y="3291840"/>
            <a:ext cx="731520" cy="640080"/>
          </a:xfrm>
          <a:prstGeom prst="chevron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45920"/>
            <a:ext cx="3200400" cy="41148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8A49"/>
                </a:solidFill>
              </a:defRPr>
            </a:pPr>
            <a:r>
              <a:t>Auto-Provision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Validate JWT dynamically</a:t>
            </a:r>
          </a:p>
          <a:p>
            <a:pPr>
              <a:spcAft>
                <a:spcPts val="400"/>
              </a:spcAft>
              <a:defRPr sz="1200" b="0">
                <a:solidFill>
                  <a:srgbClr val="7F8C8D"/>
                </a:solidFill>
              </a:defRPr>
            </a:pPr>
            <a:r>
              <a:t>(per-issuer JWKS)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Lookup user by (Issuer, Subject)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Not found → provision!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Fetch OIDC Discovery doc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Call UserInfo endpoint</a:t>
            </a:r>
          </a:p>
          <a:p>
            <a:pPr>
              <a:spcAft>
                <a:spcPts val="400"/>
              </a:spcAft>
              <a:defRPr sz="1200" b="0">
                <a:solidFill>
                  <a:srgbClr val="7F8C8D"/>
                </a:solidFill>
              </a:defRPr>
            </a:pPr>
            <a:r>
              <a:t>(email, name, verified status)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Create User + UserIdentity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Assign "Pending" role</a:t>
            </a:r>
          </a:p>
        </p:txBody>
      </p:sp>
      <p:sp>
        <p:nvSpPr>
          <p:cNvPr id="13" name="Chevron 12"/>
          <p:cNvSpPr/>
          <p:nvPr/>
        </p:nvSpPr>
        <p:spPr>
          <a:xfrm>
            <a:off x="8092440" y="3291840"/>
            <a:ext cx="731520" cy="640080"/>
          </a:xfrm>
          <a:prstGeom prst="chevron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926080" cy="41148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173736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1783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Email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If email not verified by IdP: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Generate token + 6-digit code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Hash token (SHA256)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Enqueue email via Hangfire</a:t>
            </a:r>
          </a:p>
          <a:p>
            <a:pPr>
              <a:spcAft>
                <a:spcPts val="400"/>
              </a:spcAft>
              <a:defRPr sz="1200" b="0">
                <a:solidFill>
                  <a:srgbClr val="7F8C8D"/>
                </a:solidFill>
              </a:defRPr>
            </a:pPr>
            <a:r>
              <a:t>Send with SendGrid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User enters code OR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clicks email link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8A49"/>
                </a:solidFill>
              </a:defRPr>
            </a:pPr>
            <a:r>
              <a:t>Email marked as verified!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943600"/>
            <a:ext cx="11612880" cy="64008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7D6E08"/>
                </a:solidFill>
              </a:defRPr>
            </a:pPr>
            <a:r>
              <a:t>Note: Phase 3 only triggers when the IdP does NOT confirm email_verified = true. Trusted IdPs (corporate Cognito, Google) typically provide verified emails, so many users skip this phase.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Phase 1: SSO Login — OAuth 2.0 Authorization Code + PKCE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01168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 /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097280"/>
            <a:ext cx="201168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Our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097280"/>
            <a:ext cx="2011680" cy="5486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097280"/>
            <a:ext cx="20116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Identity Provider</a:t>
            </a:r>
            <a:br/>
            <a:r>
              <a:t>(Cognito)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920240"/>
            <a:ext cx="50292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1. GET /oauth/authorize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468880"/>
            <a:ext cx="41148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2. Generate PKCE (code_verifier + code_challenge)</a:t>
            </a:r>
            <a:br/>
            <a:r>
              <a:t>   Generate random state parameter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291840"/>
            <a:ext cx="45720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3. Store state + code_verifier in cache (5-min TTL)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45720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4. Return auth URL → User redirected to IdP login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572000"/>
            <a:ext cx="50292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E67E22"/>
                </a:solidFill>
              </a:defRPr>
            </a:pPr>
            <a:r>
              <a:t>5. User authenticates → IdP redirects back with authorization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212080"/>
            <a:ext cx="50292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6. GET /oauth/callback?code=xxx&amp;state=yyy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760720"/>
            <a:ext cx="68580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7. Validate state → Retrieve code_verifier → POST /token (code + verifier) → Receive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355080"/>
            <a:ext cx="11247120" cy="36576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1E8A49"/>
                </a:solidFill>
              </a:defRPr>
            </a:pPr>
            <a:r>
              <a:t>Result: Client receives access_token, id_token, and refresh_token — stores securely for API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Phase 2: Auto-Provisioning — First Authenticated Request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JWT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463040"/>
            <a:ext cx="41148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Extract issuer from token</a:t>
            </a:r>
            <a:br/>
            <a:r>
              <a:t>Lookup IdP config (5-min cache)</a:t>
            </a:r>
            <a:br/>
            <a:r>
              <a:t>Validate signature, issuer, audience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User Lookup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743200"/>
            <a:ext cx="41148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Search by (Issuer, Subject) tuple</a:t>
            </a:r>
            <a:br/>
            <a:r>
              <a:t>NOT by email — prevents cross-IdP takeover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Fetch UserInfo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023360"/>
            <a:ext cx="41148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OIDC Discovery → find userinfo endpoint</a:t>
            </a:r>
            <a:br/>
            <a:r>
              <a:t>GET /userinfo with Bearer token</a:t>
            </a:r>
            <a:br/>
            <a:r>
              <a:t>Retrieve: email, name, email_verified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8A49"/>
                </a:solidFill>
              </a:defRPr>
            </a:pPr>
            <a:r>
              <a:t>Create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303520"/>
            <a:ext cx="41148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User entity (IsActive = true)</a:t>
            </a:r>
            <a:br/>
            <a:r>
              <a:t>UserIdentity (Issuer, Subject, Email)</a:t>
            </a:r>
            <a:br/>
            <a:r>
              <a:t>Assign "Pending" role</a:t>
            </a:r>
            <a:br/>
            <a:r>
              <a:t>Audit log: 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Decision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554480"/>
            <a:ext cx="320040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B3A5C"/>
                </a:solidFill>
              </a:defRPr>
            </a:pPr>
            <a:r>
              <a:t>User exists in database?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286000"/>
            <a:ext cx="201168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1E8A49"/>
                </a:solidFill>
              </a:defRPr>
            </a:pPr>
            <a:r>
              <a:t>YES</a:t>
            </a:r>
            <a:br/>
            <a:r>
              <a:t>Return existing user</a:t>
            </a:r>
            <a:br/>
            <a:r>
              <a:t>with current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286000"/>
            <a:ext cx="2286000" cy="4572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E67E22"/>
                </a:solidFill>
              </a:defRPr>
            </a:pPr>
            <a:r>
              <a:t>NO → Check AutoProvision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017520"/>
            <a:ext cx="2011680" cy="5486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E74C3C"/>
                </a:solidFill>
              </a:defRPr>
            </a:pPr>
            <a:r>
              <a:t>Disabled</a:t>
            </a:r>
            <a:br/>
            <a:r>
              <a:t>→ Return 401 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60" y="3017520"/>
            <a:ext cx="1463040" cy="5486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1E8A49"/>
                </a:solidFill>
              </a:defRPr>
            </a:pPr>
            <a:r>
              <a:t>Enabled</a:t>
            </a:r>
            <a:br/>
            <a:r>
              <a:t>→ Fetch UserInfo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931920"/>
            <a:ext cx="2743200" cy="82296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2C3E50"/>
                </a:solidFill>
              </a:defRPr>
            </a:pPr>
            <a:r>
              <a:t>UserInfo Success</a:t>
            </a:r>
            <a:br/>
            <a:r>
              <a:t>email, name from IdP</a:t>
            </a:r>
            <a:br/>
            <a:r>
              <a:t>email_verified from IdP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931920"/>
            <a:ext cx="2743200" cy="82296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100" b="0">
                <a:solidFill>
                  <a:srgbClr val="2C3E50"/>
                </a:solidFill>
              </a:defRPr>
            </a:pPr>
            <a:r>
              <a:t>UserInfo Failed</a:t>
            </a:r>
            <a:br/>
            <a:r>
              <a:t>Fallback: {sub}@pending.local</a:t>
            </a:r>
            <a:br/>
            <a:r>
              <a:t>email_verified =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5120640"/>
            <a:ext cx="5943600" cy="731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1E8A49"/>
                </a:solidFill>
              </a:defRPr>
            </a:pPr>
            <a:r>
              <a:t>Create User + UserIdentity + ActivityLog</a:t>
            </a:r>
            <a:br/>
            <a:r>
              <a:t>Role: "Pending"  |  IsActive: true  |  RequiresEmailVerification: true/false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6126480"/>
            <a:ext cx="5943600" cy="5486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Security: Users are identified by (Issuer, Subject) — NOT by email. This prevents account takeover across IdPs.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Phase 3: Email Verification — Token &amp; Code-Based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Sending Verification Email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74520"/>
            <a:ext cx="4572000" cy="5943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POST /user/email/send-verification</a:t>
            </a:r>
            <a:br/>
            <a:r>
              <a:t>(authenticated endpoint)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6888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</a:defRPr>
            </a:pPr>
            <a:r>
              <a:t>Generate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788920"/>
            <a:ext cx="4572000" cy="5943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Token: GUID (32 hex chars)</a:t>
            </a:r>
            <a:br/>
            <a:r>
              <a:t>Code: 6-digit cryptographic random</a:t>
            </a:r>
            <a:br/>
            <a:r>
              <a:t>Hash: SHA256(token) → stored in DB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977640"/>
            <a:ext cx="4572000" cy="5943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Build HTML + plain text template</a:t>
            </a:r>
            <a:br/>
            <a:r>
              <a:t>Includes code AND clickable link</a:t>
            </a:r>
            <a:br/>
            <a:r>
              <a:t>Expiry warning (60 minutes)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F8C8D"/>
                </a:solidFill>
              </a:defRPr>
            </a:pPr>
            <a:r>
              <a:t>Enqueue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983480"/>
            <a:ext cx="4572000" cy="59436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Hangfire background job</a:t>
            </a:r>
            <a:br/>
            <a:r>
              <a:t>"email" queue → SendGrid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Verifying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2560320" cy="109728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Option A: Code</a:t>
            </a:r>
            <a:br/>
            <a:br/>
            <a:r>
              <a:t>User enters 6-digit code</a:t>
            </a:r>
            <a:br/>
            <a:r>
              <a:t>in the application</a:t>
            </a:r>
            <a:br/>
            <a:br/>
            <a:r>
              <a:t>POST /auth/email/verify</a:t>
            </a:r>
            <a:br/>
            <a:r>
              <a:t>{ code: "123456"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</a:defRPr>
            </a:pPr>
            <a:r>
              <a:t>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554480"/>
            <a:ext cx="2286000" cy="109728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Option B: Link</a:t>
            </a:r>
            <a:br/>
            <a:br/>
            <a:r>
              <a:t>User clicks button</a:t>
            </a:r>
            <a:br/>
            <a:r>
              <a:t>in email</a:t>
            </a:r>
            <a:br/>
            <a:br/>
            <a:r>
              <a:t>GET /auth/email/verify</a:t>
            </a:r>
            <a:br/>
            <a:r>
              <a:t>?token=xxx&amp;uid=yyy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26080"/>
            <a:ext cx="5486400" cy="3657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Verification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383280"/>
            <a:ext cx="5486400" cy="347472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  1. Find token by hash or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767328"/>
            <a:ext cx="5486400" cy="347472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  2. Validate: not expired, not used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151376"/>
            <a:ext cx="5486400" cy="347472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  3. Mark token as used (single-use)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35424"/>
            <a:ext cx="5486400" cy="347472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1E8A49"/>
                </a:solidFill>
              </a:defRPr>
            </a:pPr>
            <a:r>
              <a:t>  4. Set EmailVerified = 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19472"/>
            <a:ext cx="5486400" cy="347472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7F8C8D"/>
                </a:solidFill>
              </a:defRPr>
            </a:pPr>
            <a:r>
              <a:t>  5. Log activity: EmailVerified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B3A5C"/>
                </a:solidFill>
              </a:defRPr>
            </a:pPr>
            <a:r>
              <a:t>Security Measures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</a:defRPr>
            </a:pPr>
            <a:r>
              <a:t>SHA256 hashing (only hash stored)  |  Cryptographic 6-digit code (1/1,000,000)  |  Single-use tokens  |  60-min expiry  |  Rate limited (3/hr)  |  Daily cleanup 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</a:defRPr>
            </a:pPr>
            <a:r>
              <a:t>Complete End-to-End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37160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822960"/>
            <a:ext cx="1371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822960"/>
            <a:ext cx="1371600" cy="457200"/>
          </a:xfrm>
          <a:prstGeom prst="roundRect">
            <a:avLst/>
          </a:prstGeom>
          <a:solidFill>
            <a:srgbClr val="854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JWT</a:t>
            </a:r>
            <a:br/>
            <a:r>
              <a:t>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822960"/>
            <a:ext cx="13716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Claims</a:t>
            </a:r>
            <a:br/>
            <a:r>
              <a:t>Transform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822960"/>
            <a:ext cx="13716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IdP</a:t>
            </a:r>
            <a:br/>
            <a:r>
              <a:t>(Cognito)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82296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Hangfire</a:t>
            </a:r>
            <a:br/>
            <a:r>
              <a:t>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63040"/>
            <a:ext cx="228600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2E86C1"/>
                </a:solidFill>
              </a:defRPr>
            </a:pPr>
            <a:r>
              <a:t>1. GET /oauth/authorize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828800"/>
            <a:ext cx="594360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2E86C1"/>
                </a:solidFill>
              </a:defRPr>
            </a:pPr>
            <a:r>
              <a:t>2. Generate PKCE + state → Redirect to IdP → User authenticates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194560"/>
            <a:ext cx="813816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2E86C1"/>
                </a:solidFill>
              </a:defRPr>
            </a:pPr>
            <a:r>
              <a:t>3. Callback: IdP returns code → Backend exchanges for tokens (PKCE) → Return tokens to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43200"/>
            <a:ext cx="2286000" cy="320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2C3E50"/>
                </a:solidFill>
              </a:defRPr>
            </a:pPr>
            <a:r>
              <a:t>4. API call with Bearer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108960"/>
            <a:ext cx="4114800" cy="3200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54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85499B"/>
                </a:solidFill>
              </a:defRPr>
            </a:pPr>
            <a:r>
              <a:t>5. DynamicJwtBearerEvents: lookup IdP, validate 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474720"/>
            <a:ext cx="4114800" cy="3200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1E8A49"/>
                </a:solidFill>
              </a:defRPr>
            </a:pPr>
            <a:r>
              <a:t>6. UserRoleClaimsTransformation: lookup user by (iss, sub)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2286000" cy="3200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1E8A49"/>
                </a:solidFill>
              </a:defRPr>
            </a:pPr>
            <a:r>
              <a:t>7. User not found → Fetch OIDC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206240"/>
            <a:ext cx="2286000" cy="32004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E67E22"/>
                </a:solidFill>
              </a:defRPr>
            </a:pPr>
            <a:r>
              <a:t>8. Call UserInfo endpoint (Bearer token)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572000"/>
            <a:ext cx="4114800" cy="3200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1E8A49"/>
                </a:solidFill>
              </a:defRPr>
            </a:pPr>
            <a:r>
              <a:t>9. Create User (Pending) + UserIdentity + ActivityLog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937760"/>
            <a:ext cx="5943600" cy="32004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E67E22"/>
                </a:solidFill>
              </a:defRPr>
            </a:pPr>
            <a:r>
              <a:t>10. If RequiresEmailVerification: Send verification command → Enqueue email 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303520"/>
            <a:ext cx="4114800" cy="3200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1E8A49"/>
                </a:solidFill>
              </a:defRPr>
            </a:pPr>
            <a:r>
              <a:t>11. Add role + user_id claims → Return to request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760720"/>
            <a:ext cx="10972800" cy="32004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900" b="0">
                <a:solidFill>
                  <a:srgbClr val="E67E22"/>
                </a:solidFill>
              </a:defRPr>
            </a:pPr>
            <a:r>
              <a:t>12. User receives email → Enters code / clicks link → POST /auth/email/verify → EmailVerified = 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247120" y="1463040"/>
            <a:ext cx="822960" cy="10058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</a:t>
            </a:r>
            <a:br/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47120" y="2743200"/>
            <a:ext cx="822960" cy="283464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</a:t>
            </a:r>
            <a:br/>
            <a: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247120" y="5760720"/>
            <a:ext cx="8229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Security Measures — Defense in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74320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OAuth &amp; PKCE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PKCE prevents code interception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5176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State parameter blocks CSRF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47472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5-min cache TTL limits replay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9768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Backend-only token exchange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097280"/>
            <a:ext cx="2743200" cy="548640"/>
          </a:xfrm>
          <a:prstGeom prst="roundRect">
            <a:avLst/>
          </a:prstGeom>
          <a:solidFill>
            <a:srgbClr val="854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JWT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82880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854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Dynamic JWKS per IdP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265176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854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Issuer &amp; audience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347472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854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Algorithm restriction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429768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854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Configurable clock skew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097280"/>
            <a:ext cx="2743200" cy="54864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(Issuer, Subject) uniqueness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Prevents cross-IdP takeover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Pending role = restricted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9768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UserInfo-based provisioning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19" y="1097280"/>
            <a:ext cx="27432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Email Verification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19" y="182880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SHA256 token hashing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19" y="265176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Crypto 6-digit code (1/1M)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19" y="347472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Single-use, 60-min expiry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19" y="4297680"/>
            <a:ext cx="27432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Rate limited: 3/hour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B3A5C"/>
                </a:solidFill>
              </a:defRPr>
            </a:pPr>
            <a:r>
              <a:t>Key Security Design Decision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</a:defRPr>
            </a:pPr>
            <a:r>
              <a:t>Users are identified by (Issuer, Subject), NOT by email address. This is critical because the same email can exist at multiple identity providers. Without this constraint, a malicious user at one IdP could access another IdP user's account by registering with the same 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</a:defRPr>
            </a:pPr>
            <a:r>
              <a:t>Data Model — Entity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560320" cy="13716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Id (PK)</a:t>
            </a:r>
            <a:br/>
            <a:r>
              <a:t>UserRoleId (FK)</a:t>
            </a:r>
            <a:br/>
            <a:r>
              <a:t>DisplayName</a:t>
            </a:r>
            <a:br/>
            <a:r>
              <a:t>IsActive</a:t>
            </a:r>
            <a:br/>
            <a:r>
              <a:t>CreatedAt / UpdatedAt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256032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256032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Id (PK)</a:t>
            </a:r>
            <a:br/>
            <a:r>
              <a:t>RoleName</a:t>
            </a:r>
            <a:br/>
            <a:r>
              <a:t>Description</a:t>
            </a:r>
            <a:br/>
            <a:br/>
            <a:r>
              <a:t>Values: Pending, User,</a:t>
            </a:r>
            <a:br/>
            <a:r>
              <a:t>SsoUser,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097280"/>
            <a:ext cx="32004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3200400" cy="25603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Id (PK)</a:t>
            </a:r>
            <a:br/>
            <a:r>
              <a:t>UserId (FK)</a:t>
            </a:r>
            <a:br/>
            <a:r>
              <a:t>IdpId (FK)</a:t>
            </a:r>
            <a:br/>
            <a:r>
              <a:t>Issuer</a:t>
            </a:r>
            <a:br/>
            <a:r>
              <a:t>Subject</a:t>
            </a:r>
            <a:br/>
            <a:r>
              <a:t>Email</a:t>
            </a:r>
            <a:br/>
            <a:r>
              <a:t>EmailVerified</a:t>
            </a:r>
            <a:br/>
            <a:r>
              <a:t>FirstName / LastName</a:t>
            </a:r>
            <a:br/>
            <a:r>
              <a:t>LastSyncedAt</a:t>
            </a:r>
            <a:br/>
            <a:r>
              <a:t>CreatedAt / UpdatedAt</a:t>
            </a:r>
            <a:br/>
            <a:br/>
            <a:r>
              <a:t>UNIQUE (Issuer, Subject)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097280"/>
            <a:ext cx="32004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Idp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554480"/>
            <a:ext cx="3200400" cy="22860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Id (PK)</a:t>
            </a:r>
            <a:br/>
            <a:r>
              <a:t>Name / Issuer / Authority</a:t>
            </a:r>
            <a:br/>
            <a:r>
              <a:t>IdpType (Internal|External)</a:t>
            </a:r>
            <a:br/>
            <a:r>
              <a:t>Enabled</a:t>
            </a:r>
            <a:br/>
            <a:r>
              <a:t>AutoProvisionEnabled</a:t>
            </a:r>
            <a:br/>
            <a:r>
              <a:t>ExpectedAudiences</a:t>
            </a:r>
            <a:br/>
            <a:r>
              <a:t>AllowedAlgs</a:t>
            </a:r>
            <a:br/>
            <a:r>
              <a:t>ClockSkewSeconds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572000"/>
            <a:ext cx="3200400" cy="45720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EmailVerificationToken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029200"/>
            <a:ext cx="3200400" cy="16459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Id (PK)</a:t>
            </a:r>
            <a:br/>
            <a:r>
              <a:t>UserIdentityId (FK)</a:t>
            </a:r>
            <a:br/>
            <a:r>
              <a:t>Email</a:t>
            </a:r>
            <a:br/>
            <a:r>
              <a:t>TokenHash (SHA256, 64 chars)</a:t>
            </a:r>
            <a:br/>
            <a:r>
              <a:t>Code (6-digit)</a:t>
            </a:r>
            <a:br/>
            <a:r>
              <a:t>ExpiresAt</a:t>
            </a:r>
            <a:br/>
            <a:r>
              <a:t>IsUsed / UsedAt</a:t>
            </a:r>
            <a:br/>
            <a:br/>
            <a:r>
              <a:t>UNIQUE (TokenHash)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4572000"/>
            <a:ext cx="3200400" cy="457200"/>
          </a:xfrm>
          <a:prstGeom prst="roundRect">
            <a:avLst/>
          </a:prstGeom>
          <a:solidFill>
            <a:srgbClr val="854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UserActivityLog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5029200"/>
            <a:ext cx="3200400" cy="13716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54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Id (PK)</a:t>
            </a:r>
            <a:br/>
            <a:r>
              <a:t>UserId (FK)</a:t>
            </a:r>
            <a:br/>
            <a:r>
              <a:t>ActivityType</a:t>
            </a:r>
            <a:br/>
            <a:r>
              <a:t>Description</a:t>
            </a:r>
            <a:br/>
            <a:r>
              <a:t>IpAddress</a:t>
            </a:r>
            <a:br/>
            <a:r>
              <a:t>CreatedAt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645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1    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</a:defRPr>
            </a:pPr>
            <a:r>
              <a:t>*   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9"/>
                </a:solidFill>
              </a:defRPr>
            </a:pPr>
            <a:r>
              <a:t>1    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</a:defRPr>
            </a:pPr>
            <a:r>
              <a:t>API Endpoints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4712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OAuth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914400" cy="32004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17320"/>
            <a:ext cx="50292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/api/v1/auth/oauth/authorize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73152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17320"/>
            <a:ext cx="45720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Start SSO login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64792"/>
            <a:ext cx="914400" cy="32004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64792"/>
            <a:ext cx="5029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/api/v1/auth/oauth/callback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64792"/>
            <a:ext cx="731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64792"/>
            <a:ext cx="45720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Exchange code for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12264"/>
            <a:ext cx="914400" cy="32004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112264"/>
            <a:ext cx="50292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/api/v1/auth/oauth/userinfo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12264"/>
            <a:ext cx="73152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112264"/>
            <a:ext cx="45720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Fetch user profile from IdP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59736"/>
            <a:ext cx="914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459736"/>
            <a:ext cx="5029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/api/v1/auth/oauth/logout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459736"/>
            <a:ext cx="731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459736"/>
            <a:ext cx="45720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Logout and revoke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1124712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Email Verification Endpoints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914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520440"/>
            <a:ext cx="50292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/api/v1/user/email/send-verification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520440"/>
            <a:ext cx="73152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520440"/>
            <a:ext cx="45720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Request verification email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67912"/>
            <a:ext cx="914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867912"/>
            <a:ext cx="5029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/api/v1/user/email/resend-verification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67912"/>
            <a:ext cx="731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Yes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3867912"/>
            <a:ext cx="45720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Resend (rate limited: 3/hr)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15384"/>
            <a:ext cx="914400" cy="32004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215384"/>
            <a:ext cx="50292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/api/v1/user/email/status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15384"/>
            <a:ext cx="73152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Yes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4215384"/>
            <a:ext cx="45720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Check verification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62856"/>
            <a:ext cx="914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562856"/>
            <a:ext cx="50292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/api/v1/auth/email/verify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62856"/>
            <a:ext cx="73152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4562856"/>
            <a:ext cx="457200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Verify with 6-digit 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10328"/>
            <a:ext cx="914400" cy="320040"/>
          </a:xfrm>
          <a:prstGeom prst="round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4910328"/>
            <a:ext cx="50292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  /api/v1/auth/email/verify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910328"/>
            <a:ext cx="73152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4910328"/>
            <a:ext cx="4572000" cy="3200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  Verify via link (?token&amp;uid)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Example: Verify by Code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760720"/>
            <a:ext cx="5303520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A3E4D7"/>
                </a:solidFill>
              </a:defRPr>
            </a:pPr>
            <a:r>
              <a:t>POST /api/v1/auth/email/verify</a:t>
            </a:r>
            <a:br/>
            <a:r>
              <a:t>{</a:t>
            </a:r>
            <a:br/>
            <a:r>
              <a:t>  "userIdentityId": "550e8400-...",</a:t>
            </a:r>
            <a:br/>
            <a:r>
              <a:t>  "code": "123456"</a:t>
            </a:r>
            <a:br/>
            <a: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9"/>
                </a:solidFill>
              </a:defRPr>
            </a:pPr>
            <a:r>
              <a:t>Response (200 OK)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760720"/>
            <a:ext cx="5303520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defRPr sz="1000" b="0">
                <a:solidFill>
                  <a:srgbClr val="A3E4D7"/>
                </a:solidFill>
              </a:defRPr>
            </a:pPr>
            <a:r>
              <a:t>{</a:t>
            </a:r>
            <a:br/>
            <a:r>
              <a:t>  "success": true,</a:t>
            </a:r>
            <a:br/>
            <a:r>
              <a:t>  "data": {</a:t>
            </a:r>
            <a:br/>
            <a:r>
              <a:t>    "success": true,</a:t>
            </a:r>
            <a:br/>
            <a:r>
              <a:t>    "message": "Email verified successfully"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86C1"/>
                </a:solidFill>
              </a:defRPr>
            </a:pPr>
            <a:r>
              <a:t>SSO Login  |  Auto-Provisioning  |  Email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AuthSamples — ASP.NET Core 8 Authentication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846320"/>
            <a:ext cx="5760720" cy="1371600"/>
          </a:xfrm>
          <a:prstGeom prst="roundRect">
            <a:avLst/>
          </a:prstGeom>
          <a:solidFill>
            <a:srgbClr val="214F7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9377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Related Documentation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2E86C1"/>
                </a:solidFill>
              </a:defRPr>
            </a:pPr>
            <a:r>
              <a:t>docs/architecture/auto-provisioning.md</a:t>
            </a:r>
          </a:p>
          <a:p>
            <a:pPr>
              <a:spcAft>
                <a:spcPts val="400"/>
              </a:spcAft>
              <a:defRPr sz="1100" b="0">
                <a:solidFill>
                  <a:srgbClr val="2E86C1"/>
                </a:solidFill>
              </a:defRPr>
            </a:pPr>
            <a:r>
              <a:t>docs/architecture/email-verification.md</a:t>
            </a:r>
          </a:p>
          <a:p>
            <a:pPr>
              <a:spcAft>
                <a:spcPts val="400"/>
              </a:spcAft>
              <a:defRPr sz="1100" b="0">
                <a:solidFill>
                  <a:srgbClr val="2E86C1"/>
                </a:solidFill>
              </a:defRPr>
            </a:pPr>
            <a:r>
              <a:t>docs/sso-multi-idp.md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