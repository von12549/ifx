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3716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12188952" cy="9144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IFX Fund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2780C3"/>
                </a:solidFill>
              </a:rPr>
              <a:t>System Overview &amp; Technical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5DE"/>
                </a:solidFill>
              </a:rPr>
              <a:t>CRM  ·  Registry  ·  Holdings  ·  Transaction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5DE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Four Bounded-Context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Each module owns its own database schema, entities, and CQRS handlers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051560"/>
            <a:ext cx="27889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1051560"/>
            <a:ext cx="2788920" cy="45720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5361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80C3"/>
                </a:solidFill>
              </a:rPr>
              <a:t>Legal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874519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Party — legal entity with functional roles (FundManager, Custodian, Distributor, Advisor)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Investor — compliance profile: KYC, AML, FATCA/CRS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InvestmentAccount — the unit of investment activity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Party↔Account and Party↔Party relationship graphs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Schema: crm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051560"/>
            <a:ext cx="27889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1A9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051560"/>
            <a:ext cx="2788920" cy="45720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361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9A8A"/>
                </a:solidFill>
              </a:rPr>
              <a:t>Fund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874519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Product (Scheme) — regulatory identity: ARSN, APIR, ISIN, PDS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Fund (Sub-fund) — investment vehicle; optional ProductId FK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FundClass (Share Class) — fee rates, NAV frequency, class currency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Three-tier hierarchy aligned with Taurus / ASIC / APRA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Schema: 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51560"/>
            <a:ext cx="27889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051560"/>
            <a:ext cx="27889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Holdings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361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Unit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74519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Running unit balance per (InvestmentAccount, FundClass)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Read-only via HTTP — mutated only by integration events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TransactionProcessedEvent → apply units delta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ClassStatusChangedEvent → freeze / unfreeze holdings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Schema: holdings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051560"/>
            <a:ext cx="27889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051560"/>
            <a:ext cx="2788920" cy="45720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5361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1E"/>
                </a:solidFill>
              </a:rPr>
              <a:t>State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874519"/>
            <a:ext cx="2606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Types: Subscription, Redemption, Transfer, Switch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Pre-validates KYC (via CRM) and class open (via Registry)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Process(navPrice) calculates units; publishes TransactionProcessedEvent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State: Pending → Processed → Settled (or Cancelled/Failed)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• Schema: transaction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Module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How CRM, Registry, Holdings, and Transaction interact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2377440" cy="91440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2377440" cy="91440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3931920"/>
            <a:ext cx="2377440" cy="91440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2560320"/>
            <a:ext cx="2377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Holdings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291840"/>
            <a:ext cx="2148840" cy="36576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9472" y="3291840"/>
            <a:ext cx="36576" cy="68580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80C3"/>
                </a:solidFill>
              </a:rPr>
              <a:t>ICrmReader
KYC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103120"/>
            <a:ext cx="36576" cy="182880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9A8A"/>
                </a:solidFill>
              </a:rPr>
              <a:t>IRegistryReader
Class open 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206240"/>
            <a:ext cx="2103120" cy="36576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00032" y="3474720"/>
            <a:ext cx="36576" cy="749808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7B1E"/>
                </a:solidFill>
              </a:rPr>
              <a:t>TransactionProcessedEvent
(units delta)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554480"/>
            <a:ext cx="2103120" cy="36576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00032" y="1554480"/>
            <a:ext cx="36576" cy="1024128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9A8A"/>
                </a:solidFill>
              </a:rPr>
              <a:t>ClassStatusChangedEvent
(freeze / unfreeze)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Legend: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833872"/>
            <a:ext cx="365760" cy="73152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5760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Sync interface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833872"/>
            <a:ext cx="365760" cy="73152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760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Integration event (async)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CRM Module — Entity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Party · Investor · InvestmentAccount ·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560320" cy="41148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PartyCode (unique / tenant)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Name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LegalStructure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Individual | Company | Trust | SuperFund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Status  (Active | Closed)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RoleAssignments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FundManager | Custodian | Distributor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TransferAgent | AdvisoryFirm |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34840"/>
            <a:ext cx="2560320" cy="36576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PartyRelationship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800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FromPartyId → ToPartyId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Type: Subsidiary | Parent | Trustee | ...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EffectiveFrom / ExpiresAt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468880"/>
            <a:ext cx="731520" cy="45720"/>
          </a:xfrm>
          <a:prstGeom prst="rect">
            <a:avLst/>
          </a:prstGeom>
          <a:solidFill>
            <a:srgbClr val="D0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94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E"/>
                </a:solidFill>
              </a:rPr>
              <a:t>optional
link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188720"/>
            <a:ext cx="2651760" cy="41148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Investor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0020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InvestorCode (unique / tenant)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PartyId? (optional link)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LegalStructure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KYC: Pending|Approved|Rejected|Expired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AML: NotChecked|Clear|Review|Blocked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FATCA/CRS status, GIIN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TaxResidencyCountry, TIN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Extension profile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IndividualProfile | CorporateProfile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TrustProfile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731520" cy="45720"/>
          </a:xfrm>
          <a:prstGeom prst="rect">
            <a:avLst/>
          </a:prstGeom>
          <a:solidFill>
            <a:srgbClr val="D0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E"/>
                </a:solidFill>
              </a:rPr>
              <a:t>owns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188720"/>
            <a:ext cx="2743200" cy="41148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InvestmentAccount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002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AccountNumber (unique / tenant)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AccountType: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Individual | Joint | Trust | Corporate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SuperannuationFund | Partnership | Other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CertificateDate?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Status: Active | Inactive | Locked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PartyLinks → (owners w/ RelationshipType)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AdvisorLinks → (advisor Parties)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468880"/>
            <a:ext cx="731520" cy="45720"/>
          </a:xfrm>
          <a:prstGeom prst="rect">
            <a:avLst/>
          </a:prstGeom>
          <a:solidFill>
            <a:srgbClr val="D0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19456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E"/>
                </a:solidFill>
              </a:rPr>
              <a:t>drives
Holdings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1188720"/>
            <a:ext cx="15544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Holdings
(unit ledger)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9436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6E"/>
                </a:solidFill>
              </a:rPr>
              <a:t>Note:  All associations are application-level — no FK constraints cross module schemas.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Registry Module — Three-Tier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Product (Scheme) → Fund (Sub-fund) → FundClass (Share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47472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PRODUCT  (Scheme)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ProductCode  (unique / tenant)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ProductName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ProductType: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ManagedFund | ETF | Superannuation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IDPS | LIT | Other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BaseCurrency  (ISO 4217)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ApirCode?  — APIR 9-char identifier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Isin?  — ISO 6166 12-char identifier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RegulatorSchemeNumber?  — ARSN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PdsReference?  — PDS document ref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IssuerName?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InceptionDate / WindUpDate?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Status: Active | Closed | Suspended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926080"/>
            <a:ext cx="914400" cy="45720"/>
          </a:xfrm>
          <a:prstGeom prst="rect">
            <a:avLst/>
          </a:prstGeom>
          <a:solidFill>
            <a:srgbClr val="D0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F6E"/>
                </a:solidFill>
              </a:rPr>
              <a:t>ProductId?
(nullable FK)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43000"/>
            <a:ext cx="3108960" cy="41148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FUND  (Sub-fund)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FundCode  (unique / tenant)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FundName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ProductId?  — optional parent Product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FundType: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UCITS | AIF | Hedge | ETF | PrivateEquity | Other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BaseCurrency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InceptionDate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Status: Active | Closed | Liquidating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fund.SetProduct(Guid?) links or unlinks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UpdateFundCommand.ClearProduct = true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→ explicitly remove Product association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26080"/>
            <a:ext cx="914400" cy="45720"/>
          </a:xfrm>
          <a:prstGeom prst="rect">
            <a:avLst/>
          </a:prstGeom>
          <a:solidFill>
            <a:srgbClr val="D0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651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F6E"/>
                </a:solidFill>
              </a:rPr>
              <a:t>FundId
(FK)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143000"/>
            <a:ext cx="3200400" cy="41148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FUNDCLASS  (Share Class)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55448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ClassCode  (unique / fund)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ClassName  (e.g. Class A, Institutional)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Currency  (ISO 4217 class denomination)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MinInitialInvestment?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ManagementFeeRate?  (decimal, e.g. 0.015)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PerformanceFeeRate?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NavFrequency: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Daily | Weekly | Monthly | Quarterly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Status: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Active | SoftClosed | Closed | Liquidating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IsOpenForSubscription() → Status ==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7881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Industry alignment:  Taurus · ASIC (ARSN) · APRA — Scheme → Sub-fund → Class is the standard three-tier structure for Australian collective investment scheme registration.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Holdings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Authoritative unit ledger — read-only HTTP, event-driven mutations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4747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Holding 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72768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Key: (TenantId, InvestmentAccountId, ClassId)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Units — running decimal balance (starts at 0)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Status: Active | Frozen | Closed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LastTransactionAt — timestamp of last event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Behaviours: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ApplySubscription(units)  → Units += units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ApplyRedemption(units)    → Units -= units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  ↳ auto-Closes when Units = 0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ApplyTransfer(units)      → delegates to Redemption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Freeze()  /  Unfreeze()   → Active ↔ Frozen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286000"/>
            <a:ext cx="1097280" cy="4572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07B1E"/>
                </a:solidFill>
              </a:rPr>
              <a:t>TransactionProcessed
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4114800"/>
            <a:ext cx="1097280" cy="45720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794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9A8A"/>
                </a:solidFill>
              </a:rPr>
              <a:t>ClassStatusChanged
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143000"/>
            <a:ext cx="32918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Holdings Event Handlers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72768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TransactionProcessedEventHandler: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1. Find or create Holding for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   (TenantId, AccountId, ClassId)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2. If Subscription → ApplySubscription(units)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3. If Redemption/Transfer → ApplyRedemption(units)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4. SaveChanges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ClassStatusChangedEventHandler: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1. Fetch all Active holdings for ClassId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2. Status → Closed/Liquidating → Freeze()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3. Status → Active → Unfreeze()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4. SaveChanges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657600" cy="411480"/>
          </a:xfrm>
          <a:prstGeom prst="rect">
            <a:avLst/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HTTP Read Endpoints (GET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572768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GET /api/v1/holding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→ tenant-scoped list of all holdings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GET /api/v1/holding/{id}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→ single holding by id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GET /api/v1/investor/{accountId}/holdings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→ all holdings for an account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GET /api/v1/fund/{fundId}/class/{classId}/holdings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→ all holdings for a fund 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7881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IMPORTANT:  There are NO HTTP write endpoints for Holdings.  Unit balances are mutated exclusively by integration events from the Transaction and Registry 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Transactions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State machine for Subscription · Redemption · Transfer ·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017520" cy="36576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Transaction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371600" cy="347472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Buy units
Amount ÷ NAV =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13716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Redemption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060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Sell units
Amount ÷ NAV = Units sold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1371600" cy="347472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1188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Move units between classes
in the same fund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13716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61772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Move units between
different funds/classes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188720"/>
            <a:ext cx="4937760" cy="36576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State Machine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2103120"/>
            <a:ext cx="1554480" cy="411480"/>
          </a:xfrm>
          <a:prstGeom prst="rect">
            <a:avLst/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103120"/>
            <a:ext cx="1554480" cy="411480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Processed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103120"/>
            <a:ext cx="15544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Settled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749039"/>
            <a:ext cx="1554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749039"/>
            <a:ext cx="1554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Failed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1808" y="2295144"/>
            <a:ext cx="164592" cy="36576"/>
          </a:xfrm>
          <a:prstGeom prst="rect">
            <a:avLst/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F6E"/>
                </a:solidFill>
              </a:rPr>
              <a:t>Process
(navPrice)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2295144"/>
            <a:ext cx="16459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7AE60"/>
                </a:solidFill>
              </a:rPr>
              <a:t>Settle()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496312"/>
            <a:ext cx="36576" cy="1252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108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Cancel()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496312"/>
            <a:ext cx="36576" cy="1252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Fail()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2519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Process(navPrice):
  Units = Amount ÷ NAVPrice  (8 decimal places)
  → publishes TransactionProcessedEvent
  → Holdings applies units delta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188720"/>
            <a:ext cx="338328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Pre-condition Checks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572768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Before ANY transaction is created: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ICrmReader.IsInvestorKycApproved
  Async(investmentAccountId)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→ KycStatus must be Approved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IRegistryReader.IsClassOpenForSubscription
  Async(classId)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→ ClassStatus must be Active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For Switch/Transfer — target class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also checked via IRegistryReader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These are synchronous interface calls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C3E50"/>
                </a:solidFill>
              </a:rPr>
              <a:t> across module boundaries (no FK).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Mapping to Taurus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IFX Fund Registry aligns with the Taurus investment management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Taurus Hierarchy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920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Scheme /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636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Regulatory scheme entity; ARSN-level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57984"/>
            <a:ext cx="1920240" cy="347472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Sub-fund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1579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Investment vehicle within scheme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15768"/>
            <a:ext cx="1920240" cy="347472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Share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752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15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Investor unit series within sub-fund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73552"/>
            <a:ext cx="1920240" cy="347472"/>
          </a:xfrm>
          <a:prstGeom prst="rect">
            <a:avLst/>
          </a:prstGeom>
          <a:solidFill>
            <a:srgbClr val="E0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Party (multi-role)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310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273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Legal entity: Manager, Custodian, Advisor, Distributor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31335"/>
            <a:ext cx="1920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Client / Investor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86791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83133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KYC+AML compliance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9120"/>
            <a:ext cx="1920240" cy="347472"/>
          </a:xfrm>
          <a:prstGeom prst="rect">
            <a:avLst/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425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Unit of investment activity (multi-owner)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46904"/>
            <a:ext cx="19202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983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Subscription / Redemption instruction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504688"/>
            <a:ext cx="1920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Unit 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5412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5046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Running holding per (Account, Class)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1188720"/>
            <a:ext cx="40233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IFX Entity / Field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600200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161848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Product  (RegulatorSchemeNumber = ARSN, ApirCode, Isin)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2157984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A9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1762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9A8A"/>
                </a:solidFill>
              </a:rPr>
              <a:t>Fund  (ProductId? nullable FK → Product)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2715768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73405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80C3"/>
                </a:solidFill>
              </a:rPr>
              <a:t>FundClass  (NavFrequency, ManagementFeeRate, ClassStatus)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273552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329184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1E"/>
                </a:solidFill>
              </a:rPr>
              <a:t>Party + PartyRoleAssignment  (FundManager | Custodian | Distributor | ...)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3831335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3849623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Investor  (KycStatus, AmlStatus, FatcaCrsStatus, TIN, GIIN)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389120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55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4407407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F6E"/>
                </a:solidFill>
              </a:rPr>
              <a:t>InvestmentAccount  (AccountType, PartyLinks, AdvisorLinks)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946904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60" y="496519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Transaction  (Subscription | Redemption | Transfer | Switch state machine)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5504688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5522975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Holding.Units  (event-sourced; ApplySubscription / ApplyRedemption)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1188720"/>
            <a:ext cx="35661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Key Architectural Differentiators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160020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Nullable ProductId FK on Fund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standalone funds remain valid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Event-driven Holdings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zero HTTP write endpoints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No cross-module FK constraints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module isolation via app boundary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InMemoryIntegrationEventBus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swappable to RabbitMQ / Service Bus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without changing Application layer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CQRS + MediatR →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one handler per command/query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   clean separation of reads &amp; writes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0D5DE"/>
                </a:solidFill>
              </a:rPr>
              <a:t>Clean Architecture · CQRS · Event-Driven · Module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88952" cy="5669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5DE"/>
                </a:solidFill>
              </a:rPr>
              <a:t>IFX Fund Registry  |  Technical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438912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Presentation  (Minimal API Endpoints)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11155680" cy="438912"/>
          </a:xfrm>
          <a:prstGeom prst="rect">
            <a:avLst/>
          </a:prstGeom>
          <a:solidFill>
            <a:srgbClr val="1A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Application  (Commands · Queries · Handlers · Validators)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106984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Domain  (Entities · Enums · Repository Interfaces)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108960"/>
            <a:ext cx="10241280" cy="438912"/>
          </a:xfrm>
          <a:prstGeom prst="rect">
            <a:avLst/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Infrastructure  (EF Core · Migrations · Repositories)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F6E"/>
                </a:solidFill>
              </a:rPr>
              <a:t>Dependencies flow inward only  (Presentation → Application → Domain ← Infrastructure)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54864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22191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.NET 8 / ASP.NET Core 8 / EF Core 8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MediatR  (CQRS pipeline behaviours)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FluentValidation  (command validators)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AutoMapper  (entity → DTO projection)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SQL Server  (5 schemas: auth, crm, registry, holdings, transaction)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OPA  (Open Policy Agent) — ABAC authorization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Hangfire  (background jobs)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SendGrid  (email notifications)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React 18 + TypeScript + Vite  (admin frontend)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✓ Docker Compose  (full stack: API + Frontend + SQL + OPA)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429000"/>
            <a:ext cx="59436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822191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793 total tests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729 backend  (xUnit)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  Domain: entity state machine tests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  Application: handler + validator tests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  Infrastructure: repository tests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  Integration: permission enforcement + API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64 frontend  (Vitest + React Testing Library + MSW)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  AuthContext, apiClient, tokenStorage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C3E50"/>
                </a:solidFill>
              </a:rPr>
              <a:t>      Management pages, CallbackPage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