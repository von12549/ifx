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303520"/>
            <a:ext cx="11686032" cy="54864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8F0"/>
                </a:solidFill>
              </a:rPr>
              <a:t>IFX Fund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CRM V2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F5"/>
                </a:solidFill>
              </a:rPr>
              <a:t>InvestmentAccount · PartyRelationship · Advisor Model · KYC Enrichment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ACC"/>
                </a:solidFill>
              </a:rPr>
              <a:t>Based on: Taurus inv schema analysis + ChatGPT CRM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What this deck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1848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990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CRM V1 — What we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80136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Foundation: Party, Investor, PartyInvestorRelationship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61848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3990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What the analysis revealed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80136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Taurus inv schema + ChatGPT design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06039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06039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898647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67919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CRM V2 — New entity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081527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InvestmentAccount, PartyRelationship, AdvisorAccountLink, InvestorDocument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606039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606039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2898647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67919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Advisor model &amp; hierarchy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3081527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3-tier: Firm → Branch → Rep; two-layer ABAC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417880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59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KYC / AML enrichment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36168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FrankieOne + Taurus fields; InvestorDocument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86200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886200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17880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959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Relationship types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36168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AccountRelationshipType &amp; PartyRelationshipType enums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66359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166359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45896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52395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API surface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564184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New endpoints across 4 resource groups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166359"/>
            <a:ext cx="55778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5166359"/>
            <a:ext cx="475488" cy="111556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545896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52395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Implementation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564184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</a:rPr>
              <a:t>7 phases; 50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CRM V1 —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Foundation delivered in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566160" cy="38404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64208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PartyCode (unique/tenant)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Name, PartyType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Status (Active/Closed)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TenantId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CreatedBy / UpdatedBy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38404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984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Investor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64208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3736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InvestorCode (unique/tenant)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Name, InvestorType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KycStatus + KycReviewedAt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ResidencyCountry, TaxResidency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Status (Active/Closed)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5661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984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PartyInvestorRelationship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664208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PartyId + InvestorId + TenantId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RelationshipType (4 types)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EffectiveDate / ExpiryDate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Composite PK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⚠  Flat — no ownership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✓  5-layer Clean Architecture   ✓  CQRS (12 commands, 5 queries)   ✓  Full ABAC on writes   ✓  Multi-tenant isolation   ✓  14 HTTP endpoints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11430000" cy="1371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6000"/>
                </a:solidFill>
              </a:rPr>
              <a:t>⚠  Gaps identified by Taurus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1091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6000"/>
                </a:solidFill>
              </a:rPr>
              <a:t>No InvestmentAccount concept  ·  Advisor linked to Investor (wrong)  ·  No advisor hierarchy  ·  No Party-to-Party relationships  ·  KYC = single enum only  ·  No ownership % on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Analysis Revealed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Taurus inv schema (173 tables) + ChatGPT CRM design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623560" cy="38404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624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INVAccount ≠ Party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09928"/>
            <a:ext cx="5623560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Legacy 'Account' is an investment/registry account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Legal entity = INVInvestorNames (maps to IFX Party)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One investor → many accounts; one account → many investors (joint)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623560" cy="38404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624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3-tier Advisor hierarchy exists in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709928"/>
            <a:ext cx="5623560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AdvisoryGroup (licensed firm, AFSL number)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AdvisoryBranch (regional office, effective dates)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AdvisorNames (individual rep, rep licence) → User not Party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56235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941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Advisor links to Account, not Investor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41648"/>
            <a:ext cx="5623560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AdvisorAccountLink: DateFrom / DateTo / RebateRate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A person can have account A (Advisor X) + account B (Advisor Y)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Authorization for new investments needs a separate mechanism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623560" cy="384048"/>
          </a:xfrm>
          <a:prstGeom prst="rect">
            <a:avLst/>
          </a:prstGeom>
          <a:solidFill>
            <a:srgbClr val="D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941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Investor-to-Investor links model corporate structures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041648"/>
            <a:ext cx="5623560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INVInvestorInvestorLink: ParentInvestor + RelationshipType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Company → Director (BeneficialOwner)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444455"/>
                </a:solidFill>
              </a:rPr>
              <a:t>▸ Trust → Trustee (RegisteredHolder) — real production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CRM V2 — New Entity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5 entities added · 1 retired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566160" cy="38404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36245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InvestmentAccount  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9928"/>
            <a:ext cx="3566160" cy="1947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783080"/>
            <a:ext cx="3364991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AccountNumber (unique/tenant)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AccountType (Individual/Joint/Trust…)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Status: Active / Inactive / Locked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CertificateDate (optional)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25880"/>
            <a:ext cx="3566160" cy="38404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6245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PartyAccountLink  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709928"/>
            <a:ext cx="3566160" cy="1947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783080"/>
            <a:ext cx="3364991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PartyId + InvestmentAccountId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RelationshipType (5 types)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OwnershipPercentage (decimal)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LinkOrder (joint accounts)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EffectiveDate / ExpiryDate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5661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36245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PartyRelationship  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709928"/>
            <a:ext cx="3566160" cy="1947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783080"/>
            <a:ext cx="3364991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FromPartyId + ToPartyId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RelationshipType (5 types)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EffectiveDate / ExpiryDate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Covers: hierarchy + corporate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Expire() method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3566160" cy="384048"/>
          </a:xfrm>
          <a:prstGeom prst="rect">
            <a:avLst/>
          </a:prstGeom>
          <a:solidFill>
            <a:srgbClr val="6A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7705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AdvisorAccountLink  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24528"/>
            <a:ext cx="3566160" cy="1947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297680"/>
            <a:ext cx="3364991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AdvisorPartyId + AccountId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RebateRate (decimal)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EffectiveDate / ExpiryDate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Expire() method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840480"/>
            <a:ext cx="3566160" cy="38404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387705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InvestorDocument  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224528"/>
            <a:ext cx="3566160" cy="1947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4297680"/>
            <a:ext cx="3364991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DocumentType (7 types)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DocumentNumber, IssueCountry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IssueState, IssueDate, ExpiryDate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Child of Investor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840480"/>
            <a:ext cx="3566160" cy="384048"/>
          </a:xfrm>
          <a:prstGeom prst="rect">
            <a:avLst/>
          </a:prstGeom>
          <a:solidFill>
            <a:srgbClr val="D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387705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PartyInvestorRelationship  ❌ RETIRED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224528"/>
            <a:ext cx="3566160" cy="1947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297680"/>
            <a:ext cx="3364991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Replaced by PartyAccountLink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Existing data migrated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· Table dropped in migration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Entity 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CRM V2 — key relationships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560320" cy="91440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930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8191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AdvisoryFirm
AdvisoryBranch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813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E5FB5"/>
                </a:solidFill>
              </a:rPr>
              <a:t>PartyRelationship
ParentFirm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234440"/>
            <a:ext cx="2560320" cy="91440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8930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8191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AdvisoryFirm
AdvisoryBranch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828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9E8A"/>
                </a:solidFill>
              </a:rPr>
              <a:t>AuthorizedToAdvise ──────────────►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2560320" cy="777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6946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62072"/>
            <a:ext cx="2423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Advisor Rep
(linked to Party)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63347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A3FB5"/>
                </a:solidFill>
              </a:rPr>
              <a:t>AdvisorAccountLink
(RebateRate, DateFrom/To)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514600"/>
            <a:ext cx="2560320" cy="77724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56946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InvestmentAccount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2423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AccountNumber
AccountType /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29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D9E8A"/>
                </a:solidFill>
              </a:rPr>
              <a:t>PartyAccountLink
(RelType, Ownership%)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474720"/>
            <a:ext cx="256032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529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822191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Investor / Legal Entity
(KYC enriched)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474720"/>
            <a:ext cx="256032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529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PartyRelationship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822191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BeneficialOwner
ControllingEntity
TrustBeneficiary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2B4A"/>
                </a:solidFill>
              </a:rPr>
              <a:t>◄── Party-to-Party ──►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514600"/>
            <a:ext cx="2560320" cy="77724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56946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InvestorDocument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862072"/>
            <a:ext cx="2423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</a:rPr>
              <a:t>Passport / DriverLicence
DocumentNumber, Expiry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3101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D9E8A"/>
                </a:solidFill>
              </a:rPr>
              <a:t>↑ child of Investor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26440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26440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9E8A"/>
                </a:solidFill>
              </a:rPr>
              <a:t>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167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5FB5"/>
                </a:solidFill>
              </a:rPr>
              <a:t>◄──────────────────────────────────────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11521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1663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Relationship types at a glance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55"/>
                </a:solidFill>
              </a:rPr>
              <a:t>PartyRelationship types: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5532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ParentFirm · AuthorizedToAdvise · BeneficialOwner · ControllingEntity · TrustBeneficiary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52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55"/>
                </a:solidFill>
              </a:rPr>
              <a:t>PartyAccountLink types: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595274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RegisteredHolder · BeneficialHolder · TrustBeneficiary · ControllingEntity ·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Advisor Model &amp;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3-tier structure confirmed by Taurus production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4754880" cy="82296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AdvisoryGroup (Firm)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Party(AdvisoryFirm) · AFSL/Licence number · bIsActive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5FB5"/>
                </a:solidFill>
              </a:rPr>
              <a:t>▼  PartyRelationship (ParentFirm)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23160"/>
            <a:ext cx="3749039" cy="8229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AdvisoryBranch (Office)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Party(AdvisoryBranch) · DateFrom/DateTo · Parent 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644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E8A"/>
                </a:solidFill>
              </a:rPr>
              <a:t>▼  PartyRelationship (ParentFirm)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3520439"/>
            <a:ext cx="2743200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Advisor Rep (Individual)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862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</a:rPr>
              <a:t>User · Rep licence number · Linked to Branch Party via PartyId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234440"/>
            <a:ext cx="612648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1234440"/>
            <a:ext cx="612648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261872"/>
            <a:ext cx="5806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Two-Layer Advisor Authorization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709928"/>
            <a:ext cx="5943600" cy="1600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7556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FB5"/>
                </a:solidFill>
              </a:rPr>
              <a:t>Layer 1 — Pre-Account (Can create investment?)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10312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PartyRelationship (AuthorizedToAdvise)
FromPartyId = AdvisorParty
ToPartyId   = InvestorParty
isActive = 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3401568"/>
            <a:ext cx="5943600" cy="1600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34472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A"/>
                </a:solidFill>
              </a:rPr>
              <a:t>Layer 2 — Post-Account (Can manage account?)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7947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AdvisorAccountLink
AdvisorPartyId = AdvisorParty
InvestmentAccountId = target
isActive = 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5093208"/>
            <a:ext cx="594360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51389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ABAC Hierarchy Traversal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541324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OPA template HasAdvisoryAuthorization traverses
Rep → Branch → Firm via PartyRelationship(ParentFirm)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KYC / AML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Investor fields enriched from Taurus + FrankieOne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200400" cy="384048"/>
          </a:xfrm>
          <a:prstGeom prst="rect">
            <a:avLst/>
          </a:prstGeom>
          <a:solidFill>
            <a:srgbClr val="D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CRM V1  (before)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18488"/>
            <a:ext cx="32004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KycStatus (enum: Pending/Approved/Rejected/Expired)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KycReviewedAt (DateTime?)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⚠  No PEP, no AML gateway, no FATCA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444455"/>
                </a:solidFill>
              </a:rPr>
              <a:t>⚠  No documents, no tax 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234440"/>
            <a:ext cx="80924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261872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CRM V2  (after)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618488"/>
            <a:ext cx="80924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7373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5FB5"/>
                </a:solidFill>
              </a:rPr>
              <a:t>▸ Personal (individuals)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011679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DateOfBirth, DateOfDeath, Gender, PlaceOfBirth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3317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E8A"/>
                </a:solidFill>
              </a:rPr>
              <a:t>▸ Nationality &amp; 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606039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NationalityCountry, IsCitizen, TaxResidencyCountry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852927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TIN, FatcaCrsStatus (enum: 4 values), GIIN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17296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FB5"/>
                </a:solidFill>
              </a:rPr>
              <a:t>▸ AML / Identity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447287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AmlStatus (NotChecked/Clear/Review/Blocked)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694175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AmlGatewayReference → FrankieOne entityId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941063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AmlCheckedAt, IsPEP, PepDetails, SourceOfWealth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187951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UnresolvedPepCount, UnresolvedSanctionCount, UnresolvedAdverseMediaCount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507991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▸ Business / Corporate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782311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BusinessRegistrationNumber, BusinessTaxNumber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029199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IsPubliclyListed, Regulator, LicenseNumber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5349239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▸ Identity Documents (child table)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623559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DocumentType: Passport · DriverLicence · NationalId · 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870447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    DocumentNumber, IssueCountry, IssueState, ExpiryDate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01568"/>
            <a:ext cx="3200400" cy="8046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447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FrankieOne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7033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Store AmlGatewayReference as pointer.
Full check history lives in FrankieOne.
IFX stores summary for ABAC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Relationship Types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AccountRelationshipType · PartyRelationshipType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577840" cy="38404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AccountRelationshipType  (PartyAccountLink)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18488"/>
            <a:ext cx="55778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709928"/>
            <a:ext cx="411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013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7282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RegisteredHolder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6596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The legal person(s) in whose name the holding is registered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368296"/>
            <a:ext cx="411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45973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86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BeneficialHolder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624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Entity on whose behalf the holding is registered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026664"/>
            <a:ext cx="411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1181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044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TrustBeneficiary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82696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Beneficiary of a trust or controlling shareholder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685032"/>
            <a:ext cx="411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776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03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ControllingEntity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410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Entity that controls another (e.g. ultimate holding company)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4343400"/>
            <a:ext cx="411480" cy="50292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616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9943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Person appointed to act on behalf of another (limited powers)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557784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2618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PartyRelationshipType  (PartyRelationship)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618488"/>
            <a:ext cx="55778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82512" y="1709928"/>
            <a:ext cx="41148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18013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17282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ParentFirm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96596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AdvisoryGroup is the parent of AdvisoryBranch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2368296"/>
            <a:ext cx="41148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245973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3865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AuthorizedToAdvise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624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Advisor firm/branch is authorised to act for this investor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3026664"/>
            <a:ext cx="41148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31181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044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BeneficialOwner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282696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Party is the beneficial owner of another party's assets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2512" y="3685032"/>
            <a:ext cx="41148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512" y="3776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703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ControllingEntity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9410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Party controls another party (e.g. ultimate holding company)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4343400"/>
            <a:ext cx="41148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4361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TrustBeneficiary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59943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Party is the beneficiary of a trust arrangement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38928"/>
            <a:ext cx="11612880" cy="138988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1846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FB5"/>
                </a:solidFill>
              </a:rPr>
              <a:t>PartyType enum additions (CRM V2)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AdvisoryFirm = 6  ·  AdvisoryBranch = 7  (existing: FundManager=1, Distributor=2, Custodian=3, TransferAgent=4, Other=5)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8338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AccountType enum (new):  Individual · Joint · Trust · Corporate · SuperannuationFund · Partnership · Other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1447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AmlStatus enum (new):  NotChecked · Clear · Review · Blocked    FatcaCrsStatus (new):  NotReviewed · Compliant · Exempt · ReportingRequired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New endpoints added in CRM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6035040" cy="3657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71016"/>
            <a:ext cx="5852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InvestmentAccount  /api/v1/investment-account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60350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73352"/>
            <a:ext cx="5833872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GET  /                          List (tenant-scoped)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GET  /{id}                      Get by ID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                          Create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PUT  /{id}                      Update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DELETE /{id}                    Soft-delete (Status = Inactive)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GET  /{id}/parties              List linked parties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/{id}/parties              Link party (PartyAccountLink)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DELETE /{id}/parties/{partyId}  Unlink party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GET  /{id}/advisors             List advisors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/{id}/advisors             Link advisor (AdvisorAccountLink)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DELETE /{id}/advisors/{advId}   Unlink 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234440"/>
            <a:ext cx="54864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2710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PartyRelationship  /api/v1/party/{id}/relationships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600200"/>
            <a:ext cx="54864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673352"/>
            <a:ext cx="5285232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GET  /                          List for party (by From or To)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                          Create relationship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DELETE /{relId}                 Expire relationship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69080"/>
            <a:ext cx="6035040" cy="36576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105656"/>
            <a:ext cx="5852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InvestorDocument  /api/v1/investor/{id}/documents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34840"/>
            <a:ext cx="60350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507992"/>
            <a:ext cx="5833872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GET  /                          List documents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                          Add document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DELETE /{docId}                 Remove document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06908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10565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Retired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434840"/>
            <a:ext cx="54864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507992"/>
            <a:ext cx="5285232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DELETE  /api/v1/party/{id}/investors/{invId}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   /api/v1/party/{id}/investors/{invId}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→ replaced by PartyAccountLink endpoints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Workflow: Advisor Onboards a New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End-to-end flow using CRM V2 entities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98448"/>
            <a:ext cx="3749039" cy="347472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 Register Advisor Firm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45919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0992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/api/v1/party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PartyType = AdvisoryFirm, LicenceNumber = AFSL-12345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98448"/>
            <a:ext cx="3749039" cy="347472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33502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  Register Investor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19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70992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/api/v1/investor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KYC fields: DateOfBirth, NationalityCountry, TIN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/api/v1/investor/{id}/documents → Passport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98448"/>
            <a:ext cx="3749039" cy="34747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3502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 Run AML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645919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0992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PUT /api/v1/investor/{id}/aml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AmlGatewayReference = FrankieOne entityId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AmlStatus = Clear, AmlCheckedAt =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35808"/>
            <a:ext cx="3749039" cy="347472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7238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  Authorise Advisor for Investor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83279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4728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/api/v1/party/{advisorId}/relationships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RelationshipType = AuthorizedToAdvise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ToPartyId = Investor's PartyId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035808"/>
            <a:ext cx="3749039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307238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  Create InvestmentAccount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383279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344728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/api/v1/investment-account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AccountType = Individual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→ ABAC checks AuthorizedToAdvise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035808"/>
            <a:ext cx="3749039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07238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  Link Investor as RegisteredHolder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383279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44728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/api/v1/investment-account/{id}/parties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RelationshipType = RegisteredHolder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OwnershipPercentage =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73168"/>
            <a:ext cx="3749039" cy="347472"/>
          </a:xfrm>
          <a:prstGeom prst="rect">
            <a:avLst/>
          </a:prstGeom>
          <a:solidFill>
            <a:srgbClr val="6A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0974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  Link Advisor to Account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2064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18464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/api/v1/investment-account/{id}/advisors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AdvisorPartyId = AdvisoryFirm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RebateRate = 0.0055, EffectiveDate = today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773168"/>
            <a:ext cx="3749039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79" y="4809744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  Submit Subscription (Transaction)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5120640"/>
            <a:ext cx="3749039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79" y="5184648"/>
            <a:ext cx="3584447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POST /api/v1/transaction (Transaction module)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→ ICrmReader.IsInvestorKycApprovedAsync ✓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444455"/>
                </a:solidFill>
              </a:rPr>
              <a:t>→ ICrmReader.InvestmentAccountExistsAsync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7 phases · ~50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2788920" cy="59436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6231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20239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5 new enums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5 new entities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Enriched Investor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5 repo interfaces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Retire PartyInvestorRelationship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5263" y="1261872"/>
            <a:ext cx="2788920" cy="594360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3" y="1298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3" y="153619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3" y="1856231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1" y="1920239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~20 new commands/queries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2 ABAC templates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Policy seeds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FluentValidation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AutoMapper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1261872"/>
            <a:ext cx="2788920" cy="5943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1298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7" y="153619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1856231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1920239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EF configs + migration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5 new repositories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Updated CrmReader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Drop old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1261872"/>
            <a:ext cx="2788920" cy="594360"/>
          </a:xfrm>
          <a:prstGeom prst="rect">
            <a:avLst/>
          </a:prstGeom>
          <a:solidFill>
            <a:srgbClr val="6A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298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53619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17152" y="1856231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920239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InvestmentAccount endpoints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PartyRelationship endpoints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AdvisorAccountLink endpoints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InvestorDocument endpoints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25112"/>
            <a:ext cx="278892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61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9943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Abstractions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919472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983480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Updated ICrmReader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New DTOs + Events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Non-breaking additions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5263" y="4325112"/>
            <a:ext cx="27889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6703" y="4361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3" y="459943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55263" y="4919472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1" y="4983480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9+ new test files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Domain entity tests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Handler tests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Regression: Transaction module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7" y="4325112"/>
            <a:ext cx="2788920" cy="594360"/>
          </a:xfrm>
          <a:prstGeom prst="rect">
            <a:avLst/>
          </a:prstGeom>
          <a:solidFill>
            <a:srgbClr val="D9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7" y="4361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Phase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7" y="4599432"/>
            <a:ext cx="26243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7" y="4919472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4983480"/>
            <a:ext cx="2606039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CLAUDE.md updates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API endpoint list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44455"/>
                </a:solidFill>
              </a:rPr>
              <a:t>▸ Test counts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56000"/>
                </a:solidFill>
              </a:rPr>
              <a:t>⏳  Commission module deferred — RebateRate on AdvisorAccountLink covers current needs. See /docs/crm/taurus_inv_schema_analysis.md §9 for future scope.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0"/>
                </a:solidFill>
              </a:rPr>
              <a:t>To resolve before or during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</a:rPr>
              <a:t>IFX Fund Registry · CRM V2 Design ·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5577840" cy="384048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3075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Q1  Joint Account — LinkOrder uniqueness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45919"/>
            <a:ext cx="55778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737360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For AccountType = Joint, should PartyAccountLink.LinkOrder be enforced unique per account (DB unique index) or treated as advisory only? Impacts EF migration and validation logic.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61872"/>
            <a:ext cx="5577840" cy="384048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075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Q2  ABAC traversal — C# template vs Rego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19"/>
            <a:ext cx="55778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HasAdvisoryAuthorization must traverse Rep → Branch → Firm via PartyRelationship(ParentFirm). C# condition template has DB access. Rego is stateless. Prefer C# template for consistency with existing pattern — confirm?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85031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730751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Q3  PartyInvestorRelationship — data migration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79"/>
            <a:ext cx="55778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160519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Current module has no production data, so the table can be dropped without a data migration script. Confirm this assumption before cutting the EF migration.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85031"/>
            <a:ext cx="557784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730751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Q4  Investor ↔ Party identity — same entity or separate?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69079"/>
            <a:ext cx="557784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160519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Should Investor carry a PartyId FK (making it a 'role' of a Party, as in ChatGPT design)? Or remain independent? Current design keeps them separate. Changing this is a larger refactor — out of scope unless confirmed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11686032" cy="54864"/>
          </a:xfrm>
          <a:prstGeom prst="rect">
            <a:avLst/>
          </a:prstGeom>
          <a:solidFill>
            <a:srgbClr val="0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CRM V2 —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E8A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58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InvestmentAccount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25856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First-class entity between Party and Holdings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E8A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5292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PartyAccountLink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52927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Replaces PartyInvestorRelationship — adds ownership %, link order, 5 relationship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015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E8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472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PartyRelationship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447287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Party-to-Party for advisor hierarchy AND corporate investor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959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E8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41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AdvisorAccountLink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0416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Advisor → Account with RebateRate; correct attachment point confirmed by Taurus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E8A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3600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Two-layer ABAC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636007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AuthorizedToAdvise (pre-account) + AdvisorAccountLink (post-account)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846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9E8A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30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KYC Enrichment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23036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FrankieOne + Taurus fields: PEP, AML, FATCA/CRS, TIN,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790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824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Commission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582472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F0"/>
                </a:solidFill>
              </a:rPr>
              <a:t>Deferred — RebateRate on relationship is sufficient for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88AA"/>
                </a:solidFill>
              </a:rPr>
              <a:t>Plan: /.claude/Plans/20260413-crm-v2-investment-account-party-relationship-kyc.md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